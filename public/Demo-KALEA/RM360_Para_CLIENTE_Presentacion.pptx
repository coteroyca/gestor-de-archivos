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71" r:id="rId4"/>
    <p:sldId id="276" r:id="rId5"/>
    <p:sldId id="257" r:id="rId6"/>
    <p:sldId id="258" r:id="rId7"/>
    <p:sldId id="272" r:id="rId8"/>
    <p:sldId id="259" r:id="rId9"/>
    <p:sldId id="275" r:id="rId10"/>
    <p:sldId id="261" r:id="rId11"/>
    <p:sldId id="273" r:id="rId12"/>
    <p:sldId id="262" r:id="rId13"/>
    <p:sldId id="263" r:id="rId14"/>
    <p:sldId id="264" r:id="rId15"/>
    <p:sldId id="274" r:id="rId16"/>
    <p:sldId id="265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6" autoAdjust="0"/>
    <p:restoredTop sz="94660"/>
  </p:normalViewPr>
  <p:slideViewPr>
    <p:cSldViewPr snapToGrid="0" snapToObjects="1">
      <p:cViewPr>
        <p:scale>
          <a:sx n="70" d="100"/>
          <a:sy n="70" d="100"/>
        </p:scale>
        <p:origin x="77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802D9-063D-47CB-89D8-F21B7C5FC006}" type="datetimeFigureOut">
              <a:rPr lang="es-VE" smtClean="0"/>
              <a:t>15/9/2026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93FFC-17C5-4960-9D1D-B4B7AE4211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90516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93FFC-17C5-4960-9D1D-B4B7AE4211FF}" type="slidenum">
              <a:rPr lang="es-VE" smtClean="0"/>
              <a:t>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9990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95720-E47B-3307-EA41-6294BEDB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3AC8B4-6FD8-404E-DE9D-A1564A427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1B84B7-C23D-1F92-2D35-27ED9C083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8346AD-8DB1-C139-A5FB-7220B0702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93FFC-17C5-4960-9D1D-B4B7AE4211FF}" type="slidenum">
              <a:rPr lang="es-VE" smtClean="0"/>
              <a:t>4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45218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1FF4106-999A-48EF-1B2E-2E78958B4778}"/>
              </a:ext>
            </a:extLst>
          </p:cNvPr>
          <p:cNvSpPr/>
          <p:nvPr/>
        </p:nvSpPr>
        <p:spPr>
          <a:xfrm>
            <a:off x="826770" y="560070"/>
            <a:ext cx="10538460" cy="5737860"/>
          </a:xfrm>
          <a:prstGeom prst="rect">
            <a:avLst/>
          </a:prstGeom>
          <a:blipFill dpi="0" rotWithShape="1">
            <a:blip r:embed="rId2">
              <a:alphaModFix amt="23000"/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30820" y="552105"/>
            <a:ext cx="107344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lang="es-ES" dirty="0"/>
              <a:t>RetailMind 360° - </a:t>
            </a:r>
            <a:r>
              <a:rPr lang="es-ES" dirty="0" err="1"/>
              <a:t>Dodet</a:t>
            </a:r>
            <a:r>
              <a:rPr lang="es-ES" dirty="0"/>
              <a:t> - </a:t>
            </a:r>
            <a:r>
              <a:rPr lang="es-ES" dirty="0" err="1"/>
              <a:t>Genix</a:t>
            </a:r>
            <a:endParaRPr lang="es-ES" dirty="0"/>
          </a:p>
        </p:txBody>
      </p:sp>
      <p:sp>
        <p:nvSpPr>
          <p:cNvPr id="3" name="TextBox 2"/>
          <p:cNvSpPr txBox="1"/>
          <p:nvPr/>
        </p:nvSpPr>
        <p:spPr>
          <a:xfrm>
            <a:off x="630820" y="2683844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8C42"/>
                </a:solidFill>
                <a:latin typeface="Calibri"/>
              </a:defRPr>
            </a:pPr>
            <a:r>
              <a:rPr lang="es-ES" dirty="0"/>
              <a:t>Excelencia</a:t>
            </a:r>
            <a:r>
              <a:rPr dirty="0"/>
              <a:t> </a:t>
            </a:r>
            <a:r>
              <a:rPr dirty="0" err="1"/>
              <a:t>Operativ</a:t>
            </a:r>
            <a:r>
              <a:rPr lang="es-ES" dirty="0"/>
              <a:t>a</a:t>
            </a:r>
            <a:r>
              <a:rPr dirty="0"/>
              <a:t> </a:t>
            </a:r>
            <a:r>
              <a:rPr lang="es-ES" dirty="0"/>
              <a:t>en</a:t>
            </a:r>
            <a:r>
              <a:rPr dirty="0"/>
              <a:t> 60 </a:t>
            </a:r>
            <a:r>
              <a:rPr lang="es-ES" dirty="0"/>
              <a:t>d</a:t>
            </a:r>
            <a:r>
              <a:rPr dirty="0" err="1"/>
              <a:t>ías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6770" y="4290832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lang="es-ES" dirty="0"/>
              <a:t>De la supervivencia a la rentabilidad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Analítica</a:t>
            </a:r>
            <a:r>
              <a:rPr dirty="0"/>
              <a:t> de Negocios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5877623"/>
            <a:ext cx="2103120" cy="50800"/>
          </a:xfrm>
          <a:prstGeom prst="rect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6426263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Presentado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: </a:t>
            </a:r>
            <a:r>
              <a:rPr lang="es-419" dirty="0" err="1"/>
              <a:t>Planalitica</a:t>
            </a:r>
            <a:r>
              <a:rPr lang="es-419" dirty="0"/>
              <a:t> </a:t>
            </a:r>
            <a:r>
              <a:rPr dirty="0"/>
              <a:t>· </a:t>
            </a:r>
            <a:r>
              <a:rPr dirty="0" err="1"/>
              <a:t>Septiembre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C23DE-3083-F7B1-F64D-A61DDD48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ED2229-850F-8EAC-5BEA-EB3E50477361}"/>
              </a:ext>
            </a:extLst>
          </p:cNvPr>
          <p:cNvSpPr txBox="1"/>
          <p:nvPr/>
        </p:nvSpPr>
        <p:spPr>
          <a:xfrm>
            <a:off x="527992" y="674471"/>
            <a:ext cx="108312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¿Quiénes somos?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7FD07-CC93-426D-57DD-69DBF51A654D}"/>
              </a:ext>
            </a:extLst>
          </p:cNvPr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1</a:t>
            </a:r>
            <a:r>
              <a:rPr lang="es-ES" dirty="0"/>
              <a:t>4</a:t>
            </a:r>
            <a:endParaRPr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565FE6E-7FC5-0AD1-263B-4413848085A7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19" name="TextBox 1">
              <a:extLst>
                <a:ext uri="{FF2B5EF4-FFF2-40B4-BE49-F238E27FC236}">
                  <a16:creationId xmlns:a16="http://schemas.microsoft.com/office/drawing/2014/main" id="{398D01E3-63DB-2B15-4FE6-A18BBAD32028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8C1FA319-8E6B-761B-1BC6-E8C5C33D7A73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8CC3B1B8-9075-20A6-C200-1E87EFB6DDAA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559845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dirty="0" err="1"/>
              <a:t>Alvaro</a:t>
            </a:r>
            <a:r>
              <a:rPr lang="es-ES" sz="2800" dirty="0"/>
              <a:t> Rivas, Gastón Larrazábal y Carolina Roa somos profesionales con larga experiencia en tecnología de información para empresas de sectores como retail, </a:t>
            </a:r>
            <a:r>
              <a:rPr lang="es-ES" sz="2800" dirty="0" err="1"/>
              <a:t>telco</a:t>
            </a:r>
            <a:r>
              <a:rPr lang="es-ES" sz="2800" dirty="0"/>
              <a:t>, laboratorios, banca, seguros, petróleo y gobierno, entre otros </a:t>
            </a:r>
          </a:p>
          <a:p>
            <a:r>
              <a:rPr lang="es-ES" sz="2800" dirty="0"/>
              <a:t>Especializados en Business </a:t>
            </a:r>
            <a:r>
              <a:rPr lang="es-ES" sz="2800" dirty="0" err="1"/>
              <a:t>Analytics</a:t>
            </a:r>
            <a:r>
              <a:rPr lang="es-ES" sz="2800" dirty="0"/>
              <a:t> (Inteligencia de Negocios + Planificación + IA)</a:t>
            </a:r>
          </a:p>
          <a:p>
            <a:r>
              <a:rPr lang="es-ES" sz="2800" dirty="0"/>
              <a:t>Provenientes del ecosistema de IBM de Venezuela como canal comercial y con competencias certificadas </a:t>
            </a:r>
          </a:p>
          <a:p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1236260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3AAAF-7BAB-D3F5-AC40-6468A060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C3909E-1F36-5B1B-156C-BC849AF274F2}"/>
              </a:ext>
            </a:extLst>
          </p:cNvPr>
          <p:cNvSpPr txBox="1"/>
          <p:nvPr/>
        </p:nvSpPr>
        <p:spPr>
          <a:xfrm>
            <a:off x="731520" y="914400"/>
            <a:ext cx="10058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Experiencia comprobable en el sector retail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B5F41F-0AF3-F8C3-0CF5-149FD7EE13EB}"/>
              </a:ext>
            </a:extLst>
          </p:cNvPr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1</a:t>
            </a:r>
            <a:r>
              <a:rPr lang="es-ES" dirty="0"/>
              <a:t>5</a:t>
            </a:r>
            <a:endParaRPr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F69A892-0D0E-6EF5-C94A-CA77546AF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35326"/>
            <a:ext cx="2943225" cy="334327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63A0EB5-70B2-45E6-A79A-56854C2D7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06" y="2160923"/>
            <a:ext cx="3743325" cy="2691829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0CCDDF8B-BACE-F435-3989-932EB708207E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21" name="TextBox 1">
              <a:extLst>
                <a:ext uri="{FF2B5EF4-FFF2-40B4-BE49-F238E27FC236}">
                  <a16:creationId xmlns:a16="http://schemas.microsoft.com/office/drawing/2014/main" id="{B5273430-0E19-CDA1-FB1A-B0093C087D6F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22" name="TextBox 2">
              <a:extLst>
                <a:ext uri="{FF2B5EF4-FFF2-40B4-BE49-F238E27FC236}">
                  <a16:creationId xmlns:a16="http://schemas.microsoft.com/office/drawing/2014/main" id="{9BA02327-6B2C-6DAA-2814-D786E9C0169C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5911471-3EA6-1A99-EE04-7E1E5D99C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816" y="2465539"/>
            <a:ext cx="2110996" cy="208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7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7C571-05B2-5D32-DEDF-5191D2CBA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864EF5-49B9-C933-3B2C-77FDE369C658}"/>
              </a:ext>
            </a:extLst>
          </p:cNvPr>
          <p:cNvSpPr txBox="1"/>
          <p:nvPr/>
        </p:nvSpPr>
        <p:spPr>
          <a:xfrm>
            <a:off x="731520" y="668736"/>
            <a:ext cx="10058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Otros clientes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D00E5-C6DB-277F-7202-E7B675733CBB}"/>
              </a:ext>
            </a:extLst>
          </p:cNvPr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1</a:t>
            </a:r>
            <a:r>
              <a:rPr lang="es-ES" dirty="0"/>
              <a:t>5</a:t>
            </a:r>
            <a:endParaRPr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FB7AB64-B6DD-04EA-7D31-2528CF97D3E7}"/>
              </a:ext>
            </a:extLst>
          </p:cNvPr>
          <p:cNvGrpSpPr/>
          <p:nvPr/>
        </p:nvGrpSpPr>
        <p:grpSpPr>
          <a:xfrm>
            <a:off x="457200" y="247024"/>
            <a:ext cx="11430000" cy="338554"/>
            <a:chOff x="457200" y="274320"/>
            <a:chExt cx="11430000" cy="338554"/>
          </a:xfrm>
        </p:grpSpPr>
        <p:sp>
          <p:nvSpPr>
            <p:cNvPr id="21" name="TextBox 1">
              <a:extLst>
                <a:ext uri="{FF2B5EF4-FFF2-40B4-BE49-F238E27FC236}">
                  <a16:creationId xmlns:a16="http://schemas.microsoft.com/office/drawing/2014/main" id="{054D31CD-BEA6-485E-68DC-3DF1B93CB851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22" name="TextBox 2">
              <a:extLst>
                <a:ext uri="{FF2B5EF4-FFF2-40B4-BE49-F238E27FC236}">
                  <a16:creationId xmlns:a16="http://schemas.microsoft.com/office/drawing/2014/main" id="{87BBAD04-3097-BB45-72C3-4832A168E2A7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3D2DAB9-9BFB-24EA-7395-8608C7F56209}"/>
              </a:ext>
            </a:extLst>
          </p:cNvPr>
          <p:cNvGrpSpPr/>
          <p:nvPr/>
        </p:nvGrpSpPr>
        <p:grpSpPr>
          <a:xfrm>
            <a:off x="1241946" y="1345844"/>
            <a:ext cx="9471548" cy="4833504"/>
            <a:chOff x="1570154" y="1591508"/>
            <a:chExt cx="9143340" cy="4587840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2C8E7B00-1FC4-C915-F1B2-89D431BDED47}"/>
                </a:ext>
              </a:extLst>
            </p:cNvPr>
            <p:cNvGrpSpPr/>
            <p:nvPr/>
          </p:nvGrpSpPr>
          <p:grpSpPr>
            <a:xfrm>
              <a:off x="1570154" y="1591508"/>
              <a:ext cx="9143340" cy="4587840"/>
              <a:chOff x="1106129" y="1694964"/>
              <a:chExt cx="8952271" cy="4484384"/>
            </a:xfrm>
          </p:grpSpPr>
          <p:grpSp>
            <p:nvGrpSpPr>
              <p:cNvPr id="2" name="Group 22">
                <a:extLst>
                  <a:ext uri="{FF2B5EF4-FFF2-40B4-BE49-F238E27FC236}">
                    <a16:creationId xmlns:a16="http://schemas.microsoft.com/office/drawing/2014/main" id="{D414ABE3-E8BA-3F56-505C-C8780A75A392}"/>
                  </a:ext>
                </a:extLst>
              </p:cNvPr>
              <p:cNvGrpSpPr/>
              <p:nvPr/>
            </p:nvGrpSpPr>
            <p:grpSpPr>
              <a:xfrm>
                <a:off x="1106129" y="1694964"/>
                <a:ext cx="8952271" cy="4484384"/>
                <a:chOff x="-11959" y="0"/>
                <a:chExt cx="12193057" cy="6858594"/>
              </a:xfrm>
            </p:grpSpPr>
            <p:grpSp>
              <p:nvGrpSpPr>
                <p:cNvPr id="3" name="Grupo 4">
                  <a:extLst>
                    <a:ext uri="{FF2B5EF4-FFF2-40B4-BE49-F238E27FC236}">
                      <a16:creationId xmlns:a16="http://schemas.microsoft.com/office/drawing/2014/main" id="{3C9B82A5-2818-AB74-2E04-42D2BCA015F5}"/>
                    </a:ext>
                  </a:extLst>
                </p:cNvPr>
                <p:cNvGrpSpPr/>
                <p:nvPr/>
              </p:nvGrpSpPr>
              <p:grpSpPr>
                <a:xfrm>
                  <a:off x="-11959" y="0"/>
                  <a:ext cx="12193057" cy="6858594"/>
                  <a:chOff x="-11959" y="0"/>
                  <a:chExt cx="12193057" cy="6858594"/>
                </a:xfrm>
              </p:grpSpPr>
              <p:pic>
                <p:nvPicPr>
                  <p:cNvPr id="8" name="Picture 17">
                    <a:extLst>
                      <a:ext uri="{FF2B5EF4-FFF2-40B4-BE49-F238E27FC236}">
                        <a16:creationId xmlns:a16="http://schemas.microsoft.com/office/drawing/2014/main" id="{3C53A39E-2AFA-FC66-F338-3A90479E6BB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-11959" y="0"/>
                    <a:ext cx="12193057" cy="6858594"/>
                  </a:xfrm>
                  <a:prstGeom prst="rect">
                    <a:avLst/>
                  </a:prstGeom>
                </p:spPr>
              </p:pic>
              <p:pic>
                <p:nvPicPr>
                  <p:cNvPr id="9" name="Picture 5">
                    <a:extLst>
                      <a:ext uri="{FF2B5EF4-FFF2-40B4-BE49-F238E27FC236}">
                        <a16:creationId xmlns:a16="http://schemas.microsoft.com/office/drawing/2014/main" id="{A914B882-7F6D-84B7-6401-B9F6EE9C81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576458" y="5720377"/>
                    <a:ext cx="2410172" cy="9000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5" name="Picture 19">
                  <a:extLst>
                    <a:ext uri="{FF2B5EF4-FFF2-40B4-BE49-F238E27FC236}">
                      <a16:creationId xmlns:a16="http://schemas.microsoft.com/office/drawing/2014/main" id="{E9819517-04E2-76BC-30BA-A7E860F340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515" t="78184" r="60515"/>
                <a:stretch/>
              </p:blipFill>
              <p:spPr>
                <a:xfrm>
                  <a:off x="2576458" y="3986728"/>
                  <a:ext cx="2312895" cy="1495432"/>
                </a:xfrm>
                <a:prstGeom prst="rect">
                  <a:avLst/>
                </a:prstGeom>
              </p:spPr>
            </p:pic>
            <p:sp>
              <p:nvSpPr>
                <p:cNvPr id="6" name="Rectangle 20">
                  <a:extLst>
                    <a:ext uri="{FF2B5EF4-FFF2-40B4-BE49-F238E27FC236}">
                      <a16:creationId xmlns:a16="http://schemas.microsoft.com/office/drawing/2014/main" id="{A742152B-C445-3D3C-F980-EB4C68B96D98}"/>
                    </a:ext>
                  </a:extLst>
                </p:cNvPr>
                <p:cNvSpPr/>
                <p:nvPr/>
              </p:nvSpPr>
              <p:spPr>
                <a:xfrm>
                  <a:off x="7477770" y="4491318"/>
                  <a:ext cx="2222042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" name="Picture 2" descr="Diageo Logo Png - PNG Image Collection">
                  <a:extLst>
                    <a:ext uri="{FF2B5EF4-FFF2-40B4-BE49-F238E27FC236}">
                      <a16:creationId xmlns:a16="http://schemas.microsoft.com/office/drawing/2014/main" id="{7A324A58-2FE8-6FB3-F3F9-6E6463F31F4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60944" y="4567761"/>
                  <a:ext cx="1855694" cy="5054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12A9C55A-5081-A9B7-6515-D86836BED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2400" y="5338822"/>
                <a:ext cx="1609725" cy="838200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81393D22-1810-886B-F527-7989C13EF0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71102" y="4535949"/>
                <a:ext cx="1657350" cy="828675"/>
              </a:xfrm>
              <a:prstGeom prst="rect">
                <a:avLst/>
              </a:prstGeom>
            </p:spPr>
          </p:pic>
        </p:grp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26494CE7-D0E6-0A8A-BE0F-42724D197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57137" y="5297666"/>
              <a:ext cx="1600200" cy="790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916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3460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piso</a:t>
            </a:r>
            <a:r>
              <a:rPr dirty="0"/>
              <a:t> se </a:t>
            </a:r>
            <a:r>
              <a:rPr dirty="0" err="1"/>
              <a:t>movió</a:t>
            </a:r>
            <a:r>
              <a:rPr dirty="0"/>
              <a:t> bajo </a:t>
            </a:r>
            <a:r>
              <a:rPr dirty="0" err="1"/>
              <a:t>nuestros</a:t>
            </a:r>
            <a:r>
              <a:rPr dirty="0"/>
              <a:t> pies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067" y="175727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rPr sz="2000" dirty="0"/>
              <a:t>El sector retail venezolano </a:t>
            </a:r>
            <a:r>
              <a:rPr sz="2000" dirty="0" err="1"/>
              <a:t>vive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mayor </a:t>
            </a:r>
            <a:r>
              <a:rPr sz="2000" dirty="0" err="1"/>
              <a:t>reconfiguración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20 </a:t>
            </a:r>
            <a:r>
              <a:rPr sz="2000" dirty="0" err="1"/>
              <a:t>años</a:t>
            </a: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latin typeface="Calibri"/>
              </a:defRPr>
            </a:pPr>
            <a:r>
              <a:t>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3460"/>
                </a:solidFill>
                <a:latin typeface="Calibri"/>
              </a:defRPr>
            </a:pPr>
            <a:r>
              <a:t>Nuevos Formatos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0380"/>
            <a:ext cx="2834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dirty="0" err="1"/>
              <a:t>Hipermercados</a:t>
            </a:r>
            <a:r>
              <a:rPr sz="1600" dirty="0"/>
              <a:t>, </a:t>
            </a:r>
            <a:r>
              <a:rPr sz="1600" dirty="0" err="1"/>
              <a:t>supermayoristas</a:t>
            </a:r>
            <a:r>
              <a:rPr sz="1600" dirty="0"/>
              <a:t>, hard discount. </a:t>
            </a:r>
            <a:r>
              <a:rPr sz="1600" dirty="0" err="1"/>
              <a:t>Redefinieron</a:t>
            </a:r>
            <a:r>
              <a:rPr sz="1600" dirty="0"/>
              <a:t> las </a:t>
            </a:r>
            <a:r>
              <a:rPr sz="1600" dirty="0" err="1"/>
              <a:t>reglas</a:t>
            </a:r>
            <a:r>
              <a:rPr sz="1600" dirty="0"/>
              <a:t> del juego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latin typeface="Calibri"/>
              </a:defRPr>
            </a:pPr>
            <a:r>
              <a:t>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3460"/>
                </a:solidFill>
                <a:latin typeface="Calibri"/>
              </a:defRPr>
            </a:pPr>
            <a:r>
              <a:t>Contracción del Consumo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520380"/>
            <a:ext cx="2834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Ticket </a:t>
            </a:r>
            <a:r>
              <a:rPr sz="1600" dirty="0" err="1"/>
              <a:t>promedio</a:t>
            </a:r>
            <a:r>
              <a:rPr sz="1600" dirty="0"/>
              <a:t> a la baja. </a:t>
            </a:r>
            <a:r>
              <a:rPr sz="1600" dirty="0" err="1"/>
              <a:t>Compras</a:t>
            </a:r>
            <a:r>
              <a:rPr sz="1600" dirty="0"/>
              <a:t> </a:t>
            </a:r>
            <a:r>
              <a:rPr sz="1600" dirty="0" err="1"/>
              <a:t>fraccionadas</a:t>
            </a:r>
            <a:r>
              <a:rPr sz="1600" dirty="0"/>
              <a:t>. </a:t>
            </a:r>
            <a:endParaRPr lang="es-ES" sz="1600" dirty="0"/>
          </a:p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dirty="0" err="1"/>
              <a:t>Cliente</a:t>
            </a:r>
            <a:r>
              <a:rPr sz="1600" dirty="0"/>
              <a:t> </a:t>
            </a:r>
            <a:r>
              <a:rPr sz="1600" dirty="0" err="1"/>
              <a:t>más</a:t>
            </a:r>
            <a:r>
              <a:rPr sz="1600" dirty="0"/>
              <a:t> </a:t>
            </a:r>
            <a:r>
              <a:rPr sz="1600" dirty="0" err="1"/>
              <a:t>exigente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7863840" y="2560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latin typeface="Calibri"/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3460"/>
                </a:solidFill>
                <a:latin typeface="Calibri"/>
              </a:defRPr>
            </a:pPr>
            <a:r>
              <a:t>Costos Operativos Crecientes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520380"/>
            <a:ext cx="2834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dirty="0" err="1"/>
              <a:t>Márgenes</a:t>
            </a:r>
            <a:r>
              <a:rPr sz="1600" dirty="0"/>
              <a:t> </a:t>
            </a:r>
            <a:r>
              <a:rPr sz="1600" dirty="0" err="1"/>
              <a:t>comprimidos</a:t>
            </a:r>
            <a:r>
              <a:rPr sz="1600" dirty="0"/>
              <a:t>. </a:t>
            </a:r>
            <a:r>
              <a:rPr sz="1600" dirty="0" err="1"/>
              <a:t>Decisiones</a:t>
            </a:r>
            <a:r>
              <a:rPr sz="1600" dirty="0"/>
              <a:t> </a:t>
            </a:r>
            <a:r>
              <a:rPr sz="1600" dirty="0" err="1"/>
              <a:t>más</a:t>
            </a:r>
            <a:r>
              <a:rPr sz="1600" dirty="0"/>
              <a:t> </a:t>
            </a:r>
            <a:r>
              <a:rPr sz="1600" dirty="0" err="1"/>
              <a:t>difíciles</a:t>
            </a:r>
            <a:r>
              <a:rPr sz="1600" dirty="0"/>
              <a:t>. </a:t>
            </a:r>
            <a:endParaRPr lang="es-ES" sz="1600" dirty="0"/>
          </a:p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Menos </a:t>
            </a:r>
            <a:r>
              <a:rPr sz="1600" dirty="0" err="1"/>
              <a:t>tolerancia</a:t>
            </a:r>
            <a:r>
              <a:rPr sz="1600" dirty="0"/>
              <a:t> al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sz="1200" dirty="0" err="1"/>
              <a:t>Confidencial</a:t>
            </a:r>
            <a:r>
              <a:rPr sz="1200" dirty="0"/>
              <a:t> — Kalea | RetailMind 360° 2026 · Slide 2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826DC47-CFCA-8A23-E151-2D4948EEBF4A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20" name="TextBox 1">
              <a:extLst>
                <a:ext uri="{FF2B5EF4-FFF2-40B4-BE49-F238E27FC236}">
                  <a16:creationId xmlns:a16="http://schemas.microsoft.com/office/drawing/2014/main" id="{C5827E0B-0925-52B7-21CB-8A2014165318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21" name="TextBox 2">
              <a:extLst>
                <a:ext uri="{FF2B5EF4-FFF2-40B4-BE49-F238E27FC236}">
                  <a16:creationId xmlns:a16="http://schemas.microsoft.com/office/drawing/2014/main" id="{84CBC7D7-C8A9-A809-C922-4AFA01D2CD3F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¿Qué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juego</a:t>
            </a:r>
            <a:r>
              <a:rPr lang="es-ES" dirty="0"/>
              <a:t>?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1940892"/>
            <a:ext cx="3200400" cy="73152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323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💸  CAJA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72412"/>
            <a:ext cx="32004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855292"/>
            <a:ext cx="3200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 dirty="0"/>
              <a:t>Capital </a:t>
            </a:r>
            <a:r>
              <a:rPr sz="1600" b="1" dirty="0" err="1"/>
              <a:t>inmovilizado</a:t>
            </a:r>
            <a:br>
              <a:rPr sz="1600" b="1" dirty="0"/>
            </a:br>
            <a:br>
              <a:rPr sz="1600" b="1" dirty="0"/>
            </a:br>
            <a:r>
              <a:rPr sz="1600" b="1" dirty="0" err="1"/>
              <a:t>Tensión</a:t>
            </a:r>
            <a:r>
              <a:rPr sz="1600" b="1" dirty="0"/>
              <a:t> </a:t>
            </a:r>
            <a:r>
              <a:rPr sz="1600" b="1" dirty="0" err="1"/>
              <a:t>en</a:t>
            </a:r>
            <a:r>
              <a:rPr sz="1600" b="1" dirty="0"/>
              <a:t> </a:t>
            </a:r>
            <a:r>
              <a:rPr sz="1600" b="1" dirty="0" err="1"/>
              <a:t>flujo</a:t>
            </a:r>
            <a:r>
              <a:rPr sz="1600" b="1" dirty="0"/>
              <a:t> de </a:t>
            </a:r>
            <a:r>
              <a:rPr sz="1600" b="1" dirty="0" err="1"/>
              <a:t>caja</a:t>
            </a:r>
            <a:br>
              <a:rPr sz="1600" b="1" dirty="0"/>
            </a:br>
            <a:br>
              <a:rPr sz="1600" b="1" dirty="0"/>
            </a:br>
            <a:r>
              <a:rPr sz="1600" b="1" dirty="0" err="1"/>
              <a:t>Liquidez</a:t>
            </a:r>
            <a:r>
              <a:rPr sz="1600" b="1" dirty="0"/>
              <a:t> que no </a:t>
            </a:r>
            <a:r>
              <a:rPr sz="1600" b="1" dirty="0" err="1"/>
              <a:t>trabaja</a:t>
            </a:r>
            <a:endParaRPr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4297680" y="1940892"/>
            <a:ext cx="3200400" cy="73152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20323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📦  INVENTARIO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672412"/>
            <a:ext cx="32004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855292"/>
            <a:ext cx="2834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 dirty="0" err="1"/>
              <a:t>Productos</a:t>
            </a:r>
            <a:r>
              <a:rPr sz="1600" b="1" dirty="0"/>
              <a:t> de baja </a:t>
            </a:r>
            <a:r>
              <a:rPr sz="1600" b="1" dirty="0" err="1"/>
              <a:t>rotación</a:t>
            </a:r>
            <a:br>
              <a:rPr sz="1600" b="1" dirty="0"/>
            </a:br>
            <a:br>
              <a:rPr sz="1600" b="1" dirty="0"/>
            </a:br>
            <a:r>
              <a:rPr sz="1600" b="1" dirty="0"/>
              <a:t>Espacio mal </a:t>
            </a:r>
            <a:r>
              <a:rPr sz="1600" b="1" dirty="0" err="1"/>
              <a:t>usado</a:t>
            </a:r>
            <a:br>
              <a:rPr sz="1600" b="1" dirty="0"/>
            </a:br>
            <a:br>
              <a:rPr sz="1600" b="1" dirty="0"/>
            </a:br>
            <a:r>
              <a:rPr sz="1600" b="1" dirty="0"/>
              <a:t>Energía </a:t>
            </a:r>
            <a:r>
              <a:rPr sz="1600" b="1" dirty="0" err="1"/>
              <a:t>desperdiciada</a:t>
            </a:r>
            <a:endParaRPr sz="1600" b="1" dirty="0"/>
          </a:p>
        </p:txBody>
      </p:sp>
      <p:sp>
        <p:nvSpPr>
          <p:cNvPr id="13" name="Rectangle 12"/>
          <p:cNvSpPr/>
          <p:nvPr/>
        </p:nvSpPr>
        <p:spPr>
          <a:xfrm>
            <a:off x="7863840" y="1940892"/>
            <a:ext cx="3200400" cy="73152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0323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📉  MARGEN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672412"/>
            <a:ext cx="32004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2855292"/>
            <a:ext cx="2834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 dirty="0" err="1"/>
              <a:t>Decisiones</a:t>
            </a:r>
            <a:r>
              <a:rPr sz="1600" b="1" dirty="0"/>
              <a:t> de </a:t>
            </a:r>
            <a:r>
              <a:rPr sz="1600" b="1" dirty="0" err="1"/>
              <a:t>precio</a:t>
            </a:r>
            <a:r>
              <a:rPr sz="1600" b="1" dirty="0"/>
              <a:t> </a:t>
            </a:r>
            <a:r>
              <a:rPr sz="1600" b="1" dirty="0" err="1"/>
              <a:t>reactivas</a:t>
            </a:r>
            <a:br>
              <a:rPr sz="1600" b="1" dirty="0"/>
            </a:br>
            <a:br>
              <a:rPr sz="1600" b="1" dirty="0"/>
            </a:br>
            <a:r>
              <a:rPr sz="1600" b="1" dirty="0" err="1"/>
              <a:t>Erosión</a:t>
            </a:r>
            <a:r>
              <a:rPr sz="1600" b="1" dirty="0"/>
              <a:t> del </a:t>
            </a:r>
            <a:r>
              <a:rPr sz="1600" b="1" dirty="0" err="1"/>
              <a:t>margen</a:t>
            </a:r>
            <a:r>
              <a:rPr sz="1600" b="1" dirty="0"/>
              <a:t> </a:t>
            </a:r>
            <a:r>
              <a:rPr sz="1600" b="1" dirty="0" err="1"/>
              <a:t>bruto</a:t>
            </a:r>
            <a:br>
              <a:rPr sz="1600" b="1" dirty="0"/>
            </a:br>
            <a:br>
              <a:rPr sz="1600" b="1" dirty="0"/>
            </a:br>
            <a:r>
              <a:rPr sz="1600" b="1" dirty="0" err="1"/>
              <a:t>Oportunidades</a:t>
            </a:r>
            <a:r>
              <a:rPr sz="1600" b="1" dirty="0"/>
              <a:t> </a:t>
            </a:r>
            <a:r>
              <a:rPr sz="1600" b="1" dirty="0" err="1"/>
              <a:t>perdidas</a:t>
            </a:r>
            <a:endParaRPr sz="1600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554544" y="5669280"/>
            <a:ext cx="10698480" cy="640080"/>
          </a:xfrm>
          <a:prstGeom prst="roundRect">
            <a:avLst/>
          </a:prstGeom>
          <a:solidFill>
            <a:srgbClr val="FFF7ED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774323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3460"/>
                </a:solidFill>
                <a:latin typeface="Calibri"/>
              </a:defRPr>
            </a:pPr>
            <a:r>
              <a:rPr dirty="0"/>
              <a:t>💡 Cada día con </a:t>
            </a:r>
            <a:r>
              <a:rPr dirty="0" err="1"/>
              <a:t>inventario</a:t>
            </a:r>
            <a:r>
              <a:rPr dirty="0"/>
              <a:t> </a:t>
            </a:r>
            <a:r>
              <a:rPr dirty="0" err="1"/>
              <a:t>inmovilizado</a:t>
            </a:r>
            <a:r>
              <a:rPr dirty="0"/>
              <a:t> = </a:t>
            </a:r>
            <a:r>
              <a:rPr dirty="0" err="1"/>
              <a:t>caja</a:t>
            </a:r>
            <a:r>
              <a:rPr dirty="0"/>
              <a:t> que NO </a:t>
            </a:r>
            <a:r>
              <a:rPr dirty="0" err="1"/>
              <a:t>trabaja</a:t>
            </a:r>
            <a:r>
              <a:rPr dirty="0"/>
              <a:t> para </a:t>
            </a:r>
            <a:r>
              <a:rPr lang="es-ES" dirty="0"/>
              <a:t>SU EMPRESA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sz="1200" dirty="0" err="1"/>
              <a:t>Confidencial</a:t>
            </a:r>
            <a:r>
              <a:rPr sz="1200" dirty="0"/>
              <a:t> — Kalea | RetailMind 360° 2026 · Slide 3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8CF70BF-BF5B-9D93-CA36-48E7425AD301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21" name="TextBox 1">
              <a:extLst>
                <a:ext uri="{FF2B5EF4-FFF2-40B4-BE49-F238E27FC236}">
                  <a16:creationId xmlns:a16="http://schemas.microsoft.com/office/drawing/2014/main" id="{337B3A0C-3D68-670D-3451-4EAEAE7E6A8F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22" name="TextBox 2">
              <a:extLst>
                <a:ext uri="{FF2B5EF4-FFF2-40B4-BE49-F238E27FC236}">
                  <a16:creationId xmlns:a16="http://schemas.microsoft.com/office/drawing/2014/main" id="{CCF6C380-784D-DE86-2514-E1E12CAFA0DF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71A33-B1A8-DD25-AE3B-6B5581B68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1BC70ABE-9168-CA83-FBF4-F3C287819A25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18401E9-A4F3-0B2E-B8FA-44F581A7DA6D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EFB9BA-9C10-33EB-7A9A-16C31C113E59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6554C7-E517-1D16-7811-799A0F09A87E}"/>
              </a:ext>
            </a:extLst>
          </p:cNvPr>
          <p:cNvSpPr txBox="1"/>
          <p:nvPr/>
        </p:nvSpPr>
        <p:spPr>
          <a:xfrm>
            <a:off x="487679" y="914400"/>
            <a:ext cx="1139952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3460"/>
                </a:solidFill>
                <a:latin typeface="Calibri"/>
              </a:defRPr>
            </a:pPr>
            <a:r>
              <a:rPr lang="es-ES" sz="3400" dirty="0"/>
              <a:t>Abordemos la complejidad con nuevos recursos y estrategias</a:t>
            </a:r>
            <a:endParaRPr sz="3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4756C-5509-1BFE-B194-3F566217198A}"/>
              </a:ext>
            </a:extLst>
          </p:cNvPr>
          <p:cNvSpPr txBox="1"/>
          <p:nvPr/>
        </p:nvSpPr>
        <p:spPr>
          <a:xfrm>
            <a:off x="457200" y="64008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sz="1200" dirty="0" err="1"/>
              <a:t>Confidencial</a:t>
            </a:r>
            <a:r>
              <a:rPr sz="1200" dirty="0"/>
              <a:t> — Kalea | RetailMind 360° 2026 · Slide </a:t>
            </a:r>
            <a:r>
              <a:rPr lang="es-ES" sz="1200" dirty="0"/>
              <a:t>4</a:t>
            </a:r>
            <a:endParaRPr sz="1200" dirty="0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6ABFF022-5A17-4663-DCA0-EBA1ECC05ABD}"/>
              </a:ext>
            </a:extLst>
          </p:cNvPr>
          <p:cNvSpPr txBox="1">
            <a:spLocks/>
          </p:cNvSpPr>
          <p:nvPr/>
        </p:nvSpPr>
        <p:spPr>
          <a:xfrm>
            <a:off x="487679" y="1865575"/>
            <a:ext cx="11193043" cy="387259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dirty="0"/>
              <a:t>Desde nuevas perspectivas de análisis (re)conocer a clientes, comportamientos de líneas de productos, </a:t>
            </a:r>
            <a:r>
              <a:rPr lang="es-ES" sz="2800" dirty="0" err="1"/>
              <a:t>SKUs</a:t>
            </a:r>
            <a:r>
              <a:rPr lang="es-ES" sz="2800" dirty="0"/>
              <a:t>, centros de ingresos, áreas geográficas</a:t>
            </a:r>
          </a:p>
          <a:p>
            <a:r>
              <a:rPr lang="es-ES" sz="2800" dirty="0"/>
              <a:t>Utilizar la tecnología de punta (analítica de datos, IA, nube, dispositivos móviles) para ganar la partida</a:t>
            </a:r>
          </a:p>
          <a:p>
            <a:r>
              <a:rPr lang="es-ES" sz="2800" dirty="0" err="1"/>
              <a:t>Opex</a:t>
            </a:r>
            <a:r>
              <a:rPr lang="es-ES" sz="2800" dirty="0"/>
              <a:t> en lugar de </a:t>
            </a:r>
            <a:r>
              <a:rPr lang="es-ES" sz="2800" dirty="0" err="1"/>
              <a:t>Capex</a:t>
            </a:r>
            <a:endParaRPr lang="es-ES" sz="2800" dirty="0"/>
          </a:p>
          <a:p>
            <a:r>
              <a:rPr lang="es-ES" sz="2800" dirty="0"/>
              <a:t>Usar el tiempo a favor</a:t>
            </a:r>
          </a:p>
          <a:p>
            <a:r>
              <a:rPr lang="es-ES" sz="2800" dirty="0"/>
              <a:t>Anticiparse a la competencia</a:t>
            </a:r>
            <a:endParaRPr lang="es-VE" sz="2800" dirty="0"/>
          </a:p>
        </p:txBody>
      </p:sp>
    </p:spTree>
    <p:extLst>
      <p:ext uri="{BB962C8B-B14F-4D97-AF65-F5344CB8AC3E}">
        <p14:creationId xmlns:p14="http://schemas.microsoft.com/office/powerpoint/2010/main" val="250152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3460"/>
                </a:solidFill>
                <a:latin typeface="Calibri"/>
              </a:defRPr>
            </a:pPr>
            <a:r>
              <a:rPr dirty="0"/>
              <a:t>De la </a:t>
            </a:r>
            <a:r>
              <a:rPr dirty="0" err="1"/>
              <a:t>Asimetría</a:t>
            </a:r>
            <a:r>
              <a:rPr dirty="0"/>
              <a:t> al </a:t>
            </a:r>
            <a:r>
              <a:rPr dirty="0" err="1"/>
              <a:t>Retailding</a:t>
            </a:r>
            <a:r>
              <a:rPr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b="1" dirty="0"/>
              <a:t>Si </a:t>
            </a:r>
            <a:r>
              <a:rPr b="1" dirty="0" err="1"/>
              <a:t>el</a:t>
            </a:r>
            <a:r>
              <a:rPr b="1" dirty="0"/>
              <a:t> </a:t>
            </a:r>
            <a:r>
              <a:rPr b="1" dirty="0" err="1"/>
              <a:t>cliente</a:t>
            </a:r>
            <a:r>
              <a:rPr b="1" dirty="0"/>
              <a:t> opera </a:t>
            </a:r>
            <a:r>
              <a:rPr b="1" dirty="0" err="1"/>
              <a:t>como</a:t>
            </a:r>
            <a:r>
              <a:rPr b="1" dirty="0"/>
              <a:t> </a:t>
            </a:r>
            <a:r>
              <a:rPr lang="es-ES" b="1" dirty="0"/>
              <a:t>TRADER</a:t>
            </a:r>
            <a:r>
              <a:rPr b="1" dirty="0"/>
              <a:t>, </a:t>
            </a:r>
            <a:r>
              <a:rPr b="1" dirty="0" err="1"/>
              <a:t>migr</a:t>
            </a:r>
            <a:r>
              <a:rPr lang="es-ES" b="1" dirty="0"/>
              <a:t>emos</a:t>
            </a:r>
            <a:r>
              <a:rPr b="1" dirty="0"/>
              <a:t> al R</a:t>
            </a:r>
            <a:r>
              <a:rPr lang="es-ES" b="1" dirty="0"/>
              <a:t>ETAILDING</a:t>
            </a:r>
            <a:endParaRPr b="1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300" b="0">
                <a:solidFill>
                  <a:srgbClr val="1F2937"/>
                </a:solidFill>
                <a:latin typeface="Calibri"/>
              </a:defRPr>
            </a:pPr>
            <a:r>
              <a:rPr dirty="0"/>
              <a:t>💰</a:t>
            </a:r>
            <a:br>
              <a:rPr dirty="0"/>
            </a:br>
            <a:br>
              <a:rPr dirty="0"/>
            </a:br>
            <a:r>
              <a:rPr sz="1600" b="1" dirty="0" err="1"/>
              <a:t>Cartera</a:t>
            </a:r>
            <a:r>
              <a:rPr sz="1600" b="1" dirty="0"/>
              <a:t> </a:t>
            </a:r>
            <a:r>
              <a:rPr sz="1600" b="1" dirty="0" err="1"/>
              <a:t>Devaluada</a:t>
            </a:r>
            <a:br>
              <a:rPr sz="1600" dirty="0"/>
            </a:br>
            <a:br>
              <a:rPr sz="1600" dirty="0"/>
            </a:br>
            <a:r>
              <a:rPr sz="1600" dirty="0"/>
              <a:t>Su </a:t>
            </a:r>
            <a:r>
              <a:rPr sz="1600" dirty="0" err="1"/>
              <a:t>caja</a:t>
            </a:r>
            <a:r>
              <a:rPr sz="1600" dirty="0"/>
              <a:t> no es </a:t>
            </a:r>
            <a:r>
              <a:rPr sz="1600" dirty="0" err="1"/>
              <a:t>efectivo</a:t>
            </a:r>
            <a:r>
              <a:rPr sz="1600" dirty="0"/>
              <a:t>; es </a:t>
            </a:r>
            <a:r>
              <a:rPr sz="1600" dirty="0" err="1"/>
              <a:t>liquidez</a:t>
            </a:r>
            <a:r>
              <a:rPr sz="1600" dirty="0"/>
              <a:t> </a:t>
            </a:r>
            <a:r>
              <a:rPr sz="1600" dirty="0" err="1"/>
              <a:t>asfixiada</a:t>
            </a:r>
            <a:r>
              <a:rPr sz="1600" dirty="0"/>
              <a:t> que </a:t>
            </a:r>
            <a:r>
              <a:rPr sz="1600" dirty="0" err="1"/>
              <a:t>pierde</a:t>
            </a:r>
            <a:r>
              <a:rPr sz="1600" dirty="0"/>
              <a:t> valor </a:t>
            </a:r>
            <a:r>
              <a:rPr sz="1600" dirty="0" err="1"/>
              <a:t>minuto</a:t>
            </a:r>
            <a:r>
              <a:rPr sz="1600" dirty="0"/>
              <a:t> a </a:t>
            </a:r>
            <a:r>
              <a:rPr sz="1600" dirty="0" err="1"/>
              <a:t>minuto</a:t>
            </a:r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300" b="0">
                <a:solidFill>
                  <a:srgbClr val="1F2937"/>
                </a:solidFill>
                <a:latin typeface="Calibri"/>
              </a:defRPr>
            </a:pPr>
            <a:r>
              <a:rPr dirty="0"/>
              <a:t>📊</a:t>
            </a:r>
            <a:br>
              <a:rPr dirty="0"/>
            </a:br>
            <a:br>
              <a:rPr dirty="0"/>
            </a:br>
            <a:r>
              <a:rPr sz="1600" b="1" dirty="0" err="1"/>
              <a:t>Posición</a:t>
            </a:r>
            <a:r>
              <a:rPr sz="1600" b="1" dirty="0"/>
              <a:t> </a:t>
            </a:r>
            <a:r>
              <a:rPr sz="1600" b="1" dirty="0" err="1"/>
              <a:t>Expuesta</a:t>
            </a:r>
            <a:br>
              <a:rPr sz="1600" dirty="0"/>
            </a:br>
            <a:br>
              <a:rPr sz="1600" dirty="0"/>
            </a:br>
            <a:r>
              <a:rPr sz="1600" dirty="0"/>
              <a:t>Cada </a:t>
            </a:r>
            <a:r>
              <a:rPr sz="1600" dirty="0" err="1"/>
              <a:t>producto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anaquel</a:t>
            </a:r>
            <a:r>
              <a:rPr sz="1600" dirty="0"/>
              <a:t> es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posición</a:t>
            </a:r>
            <a:r>
              <a:rPr sz="1600" dirty="0"/>
              <a:t> </a:t>
            </a:r>
            <a:r>
              <a:rPr sz="1600" dirty="0" err="1"/>
              <a:t>financiera</a:t>
            </a:r>
            <a:r>
              <a:rPr sz="1600" dirty="0"/>
              <a:t> </a:t>
            </a:r>
            <a:r>
              <a:rPr sz="1600" dirty="0" err="1"/>
              <a:t>expuesta</a:t>
            </a:r>
            <a:r>
              <a:rPr sz="1600" dirty="0"/>
              <a:t> a la </a:t>
            </a:r>
            <a:r>
              <a:rPr sz="1600" dirty="0" err="1"/>
              <a:t>inflación</a:t>
            </a:r>
            <a:endParaRPr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7863840" y="2286000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300" b="0">
                <a:solidFill>
                  <a:srgbClr val="1F2937"/>
                </a:solidFill>
                <a:latin typeface="Calibri"/>
              </a:defRPr>
            </a:pPr>
            <a:r>
              <a:rPr dirty="0"/>
              <a:t>⏱️</a:t>
            </a:r>
            <a:br>
              <a:rPr dirty="0"/>
            </a:br>
            <a:br>
              <a:rPr sz="1600" dirty="0"/>
            </a:br>
            <a:r>
              <a:rPr sz="1600" b="1" dirty="0" err="1"/>
              <a:t>Arbitraje</a:t>
            </a:r>
            <a:r>
              <a:rPr sz="1600" b="1" dirty="0"/>
              <a:t> </a:t>
            </a:r>
            <a:r>
              <a:rPr sz="1600" b="1" dirty="0" err="1"/>
              <a:t>Tardío</a:t>
            </a:r>
            <a:br>
              <a:rPr sz="1600" dirty="0"/>
            </a:br>
            <a:br>
              <a:rPr sz="1600" dirty="0"/>
            </a:br>
            <a:r>
              <a:rPr sz="1600" dirty="0" err="1"/>
              <a:t>Promociones</a:t>
            </a:r>
            <a:r>
              <a:rPr sz="1600" dirty="0"/>
              <a:t> </a:t>
            </a:r>
            <a:r>
              <a:rPr sz="1600" dirty="0" err="1"/>
              <a:t>reactivas</a:t>
            </a:r>
            <a:r>
              <a:rPr sz="1600" dirty="0"/>
              <a:t> </a:t>
            </a:r>
            <a:r>
              <a:rPr sz="1600" dirty="0" err="1"/>
              <a:t>basadas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pasado</a:t>
            </a:r>
            <a:r>
              <a:rPr sz="1600" dirty="0"/>
              <a:t>. La </a:t>
            </a:r>
            <a:r>
              <a:rPr sz="1600" dirty="0" err="1"/>
              <a:t>competencia</a:t>
            </a:r>
            <a:r>
              <a:rPr sz="1600" dirty="0"/>
              <a:t> </a:t>
            </a:r>
            <a:r>
              <a:rPr sz="1600" dirty="0" err="1"/>
              <a:t>ya</a:t>
            </a:r>
            <a:r>
              <a:rPr sz="1600" dirty="0"/>
              <a:t> </a:t>
            </a:r>
            <a:r>
              <a:rPr sz="1600" dirty="0" err="1"/>
              <a:t>tomó</a:t>
            </a:r>
            <a:r>
              <a:rPr sz="1600" dirty="0"/>
              <a:t> la </a:t>
            </a:r>
            <a:r>
              <a:rPr sz="1600" dirty="0" err="1"/>
              <a:t>delantera</a:t>
            </a:r>
            <a:endParaRPr sz="16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15677"/>
              </p:ext>
            </p:extLst>
          </p:nvPr>
        </p:nvGraphicFramePr>
        <p:xfrm>
          <a:off x="731520" y="43891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/>
                        <a:t>📈 MERCADO FINANCIERO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/>
                        <a:t>🛒 TU OPERACIÓN REAL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/>
                        <a:t>🎯 TU ROL EN EL PANEL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TRADER / INVERSOR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Dueño del </a:t>
                      </a:r>
                      <a:r>
                        <a:rPr lang="es-ES" sz="1600" b="1" dirty="0"/>
                        <a:t>n</a:t>
                      </a:r>
                      <a:r>
                        <a:rPr sz="1600" b="1" dirty="0" err="1"/>
                        <a:t>egocio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Decide </a:t>
                      </a:r>
                      <a:r>
                        <a:rPr sz="1600" b="1" dirty="0" err="1"/>
                        <a:t>el</a:t>
                      </a:r>
                      <a:r>
                        <a:rPr sz="1600" b="1" dirty="0"/>
                        <a:t> </a:t>
                      </a:r>
                      <a:r>
                        <a:rPr lang="es-ES" sz="1600" b="1" dirty="0"/>
                        <a:t>c</a:t>
                      </a:r>
                      <a:r>
                        <a:rPr sz="1600" b="1" dirty="0" err="1"/>
                        <a:t>apital</a:t>
                      </a:r>
                      <a:endParaRPr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BROKER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 err="1"/>
                        <a:t>Gerente</a:t>
                      </a:r>
                      <a:r>
                        <a:rPr sz="1600" b="1" dirty="0"/>
                        <a:t> / </a:t>
                      </a:r>
                      <a:r>
                        <a:rPr sz="1600" b="1" dirty="0" err="1"/>
                        <a:t>Administrador</a:t>
                      </a:r>
                      <a:endParaRPr sz="1600" b="1" dirty="0"/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 err="1"/>
                        <a:t>Ejecuta</a:t>
                      </a:r>
                      <a:r>
                        <a:rPr sz="1600" b="1" dirty="0"/>
                        <a:t> la </a:t>
                      </a:r>
                      <a:r>
                        <a:rPr lang="es-ES" sz="1600" b="1" dirty="0"/>
                        <a:t>e</a:t>
                      </a:r>
                      <a:r>
                        <a:rPr sz="1600" b="1" dirty="0" err="1"/>
                        <a:t>strategia</a:t>
                      </a:r>
                      <a:endParaRPr sz="1600" b="1" dirty="0"/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/>
                        <a:t>ANALISTA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/>
                        <a:t>Dashboard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Mide la </a:t>
                      </a:r>
                      <a:r>
                        <a:rPr lang="es-ES" sz="1600" b="1" dirty="0"/>
                        <a:t>t</a:t>
                      </a:r>
                      <a:r>
                        <a:rPr sz="1600" b="1" dirty="0" err="1"/>
                        <a:t>endencia</a:t>
                      </a:r>
                      <a:endParaRPr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/>
                        <a:t>ASESOR FINANCIERO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/>
                        <a:t>Metodología Retailding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600" b="1" dirty="0" err="1"/>
                        <a:t>Te</a:t>
                      </a:r>
                      <a:r>
                        <a:rPr sz="1600" b="1" dirty="0"/>
                        <a:t> dice </a:t>
                      </a:r>
                      <a:r>
                        <a:rPr sz="1600" b="1" dirty="0" err="1"/>
                        <a:t>qu</a:t>
                      </a:r>
                      <a:r>
                        <a:rPr lang="es-ES" sz="1600" b="1" dirty="0"/>
                        <a:t>e</a:t>
                      </a:r>
                      <a:r>
                        <a:rPr sz="1600" b="1" dirty="0"/>
                        <a:t> </a:t>
                      </a:r>
                      <a:r>
                        <a:rPr sz="1600" b="1" dirty="0" err="1"/>
                        <a:t>hacer</a:t>
                      </a:r>
                      <a:endParaRPr sz="1600" b="1" dirty="0"/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</a:t>
            </a:r>
            <a:r>
              <a:rPr lang="es-ES" dirty="0"/>
              <a:t>5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E5FA676-9D7E-49A9-8682-40264FFF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33" b="32333"/>
          <a:stretch>
            <a:fillRect/>
          </a:stretch>
        </p:blipFill>
        <p:spPr>
          <a:xfrm>
            <a:off x="8206894" y="731520"/>
            <a:ext cx="1394306" cy="1277763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9E65C7CC-7EB1-51A4-93E4-60A8ADB17596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16" name="TextBox 1">
              <a:extLst>
                <a:ext uri="{FF2B5EF4-FFF2-40B4-BE49-F238E27FC236}">
                  <a16:creationId xmlns:a16="http://schemas.microsoft.com/office/drawing/2014/main" id="{583E43B4-67E7-72C0-44A9-F5022B03D1C8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17" name="TextBox 2">
              <a:extLst>
                <a:ext uri="{FF2B5EF4-FFF2-40B4-BE49-F238E27FC236}">
                  <a16:creationId xmlns:a16="http://schemas.microsoft.com/office/drawing/2014/main" id="{A23618C9-2171-5D7E-B50E-28036BFFF229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DA0E8-238F-6F69-854A-F950FB8E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43688BA8-4DAB-24CA-B901-477C87191B9B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25A860-6FD4-DA1E-8C46-C970E7A3F933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C7DFC43-9901-D1CD-B678-1646E908D623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0C7CC61-17FD-41B4-3F18-573DB4AE4974}"/>
              </a:ext>
            </a:extLst>
          </p:cNvPr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Aportando valor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6961C5-596B-B9C4-7DF6-07934FDF5601}"/>
              </a:ext>
            </a:extLst>
          </p:cNvPr>
          <p:cNvSpPr txBox="1"/>
          <p:nvPr/>
        </p:nvSpPr>
        <p:spPr>
          <a:xfrm>
            <a:off x="457200" y="64008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sz="1200" dirty="0" err="1"/>
              <a:t>Confidencial</a:t>
            </a:r>
            <a:r>
              <a:rPr sz="1200" dirty="0"/>
              <a:t> — Kalea | RetailMind 360° 2026 · Slide </a:t>
            </a:r>
            <a:r>
              <a:rPr lang="es-ES" sz="1200" dirty="0"/>
              <a:t>4</a:t>
            </a:r>
            <a:endParaRPr sz="1200" dirty="0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3366A885-7DF3-F84A-6C4A-42F9AC71457B}"/>
              </a:ext>
            </a:extLst>
          </p:cNvPr>
          <p:cNvSpPr txBox="1">
            <a:spLocks/>
          </p:cNvSpPr>
          <p:nvPr/>
        </p:nvSpPr>
        <p:spPr>
          <a:xfrm>
            <a:off x="487679" y="1865575"/>
            <a:ext cx="11193043" cy="387259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¿Cuánto vale para Ud. liberar un punto porcentual de su capital inmovilizado en inventario?</a:t>
            </a:r>
          </a:p>
          <a:p>
            <a:r>
              <a:rPr lang="es-ES" sz="2800" dirty="0"/>
              <a:t>Proteja su margen bruto mediante la </a:t>
            </a:r>
            <a:r>
              <a:rPr lang="es-VE" sz="2800" dirty="0"/>
              <a:t>optimización de precios y promociones</a:t>
            </a:r>
            <a:endParaRPr lang="es-ES" sz="2800" dirty="0"/>
          </a:p>
          <a:p>
            <a:r>
              <a:rPr lang="es-ES" sz="2800" dirty="0"/>
              <a:t>Aumente las ventas y evite las rupturas (</a:t>
            </a:r>
            <a:r>
              <a:rPr lang="es-ES" sz="2800" dirty="0" err="1"/>
              <a:t>stockout</a:t>
            </a:r>
            <a:r>
              <a:rPr lang="es-ES" sz="2800" dirty="0"/>
              <a:t>)</a:t>
            </a:r>
          </a:p>
          <a:p>
            <a:r>
              <a:rPr lang="es-ES" sz="2800" dirty="0"/>
              <a:t>Rompa los silos organizacionales</a:t>
            </a:r>
          </a:p>
          <a:p>
            <a:r>
              <a:rPr lang="es-ES" sz="2800" dirty="0"/>
              <a:t>Aplique ahorros masivos en estudios de expansión</a:t>
            </a:r>
            <a:endParaRPr lang="es-VE" sz="2800" dirty="0"/>
          </a:p>
        </p:txBody>
      </p:sp>
    </p:spTree>
    <p:extLst>
      <p:ext uri="{BB962C8B-B14F-4D97-AF65-F5344CB8AC3E}">
        <p14:creationId xmlns:p14="http://schemas.microsoft.com/office/powerpoint/2010/main" val="1705207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3460"/>
                </a:solidFill>
                <a:latin typeface="Calibri"/>
              </a:defRPr>
            </a:pPr>
            <a:r>
              <a:rPr dirty="0"/>
              <a:t>Planalítica: </a:t>
            </a:r>
            <a:r>
              <a:rPr dirty="0" err="1"/>
              <a:t>Analítica</a:t>
            </a:r>
            <a:r>
              <a:rPr dirty="0"/>
              <a:t> de Negocios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Servicio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61892" y="201168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400" b="1">
                <a:solidFill>
                  <a:srgbClr val="0F3460"/>
                </a:solidFill>
                <a:latin typeface="Calibri"/>
              </a:defRPr>
            </a:pPr>
            <a:r>
              <a:rPr sz="1600" dirty="0"/>
              <a:t>Datos </a:t>
            </a:r>
            <a:r>
              <a:rPr lang="es-ES" sz="1600" dirty="0"/>
              <a:t>del cliente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3805092" y="201168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rPr lang="es-ES" sz="1600" dirty="0"/>
              <a:t>Innovación tecnológica</a:t>
            </a:r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6548292" y="201168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400" b="1">
                <a:solidFill>
                  <a:srgbClr val="0F3460"/>
                </a:solidFill>
                <a:latin typeface="Calibri"/>
              </a:defRPr>
            </a:pPr>
            <a:r>
              <a:rPr lang="es-ES" sz="1600" dirty="0" err="1"/>
              <a:t>RetailMind</a:t>
            </a:r>
            <a:r>
              <a:rPr lang="es-ES" sz="1600" dirty="0"/>
              <a:t> 360°</a:t>
            </a:r>
            <a:endParaRPr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9291492" y="201168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400" b="1">
                <a:solidFill>
                  <a:srgbClr val="0F3460"/>
                </a:solidFill>
                <a:latin typeface="Calibri"/>
              </a:defRPr>
            </a:pPr>
            <a:r>
              <a:rPr sz="1600" dirty="0" err="1"/>
              <a:t>Decisiones</a:t>
            </a:r>
            <a:br>
              <a:rPr sz="1600" dirty="0"/>
            </a:br>
            <a:r>
              <a:rPr sz="1600" dirty="0" err="1"/>
              <a:t>Inteligentes</a:t>
            </a:r>
            <a:endParaRPr sz="1600" dirty="0"/>
          </a:p>
        </p:txBody>
      </p:sp>
      <p:sp>
        <p:nvSpPr>
          <p:cNvPr id="9" name="Right Arrow 8"/>
          <p:cNvSpPr/>
          <p:nvPr/>
        </p:nvSpPr>
        <p:spPr>
          <a:xfrm>
            <a:off x="3347892" y="2377440"/>
            <a:ext cx="457200" cy="365760"/>
          </a:xfrm>
          <a:prstGeom prst="rightArrow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6091092" y="2377440"/>
            <a:ext cx="457200" cy="365760"/>
          </a:xfrm>
          <a:prstGeom prst="rightArrow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834292" y="2377440"/>
            <a:ext cx="457200" cy="365760"/>
          </a:xfrm>
          <a:prstGeom prst="rightArrow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35632" y="3657600"/>
            <a:ext cx="2103120" cy="1371600"/>
          </a:xfrm>
          <a:prstGeom prst="round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📦</a:t>
            </a:r>
            <a:br>
              <a:rPr dirty="0"/>
            </a:br>
            <a:r>
              <a:rPr sz="1600" dirty="0" err="1"/>
              <a:t>Optimización</a:t>
            </a:r>
            <a:r>
              <a:rPr sz="1600" dirty="0"/>
              <a:t> de</a:t>
            </a:r>
            <a:br>
              <a:rPr sz="1600" dirty="0"/>
            </a:br>
            <a:r>
              <a:rPr sz="1600" dirty="0" err="1"/>
              <a:t>Inventarios</a:t>
            </a:r>
            <a:endParaRPr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3931920" y="3657600"/>
            <a:ext cx="2103120" cy="1371600"/>
          </a:xfrm>
          <a:prstGeom prst="round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💰</a:t>
            </a:r>
            <a:br>
              <a:rPr dirty="0"/>
            </a:br>
            <a:r>
              <a:rPr sz="1600" dirty="0"/>
              <a:t>Pricing</a:t>
            </a:r>
            <a:br>
              <a:rPr sz="1600" dirty="0"/>
            </a:br>
            <a:r>
              <a:rPr sz="1600" dirty="0" err="1"/>
              <a:t>Inteligente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6654468" y="3657600"/>
            <a:ext cx="2103120" cy="1371600"/>
          </a:xfrm>
          <a:prstGeom prst="round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🎯</a:t>
            </a:r>
            <a:br>
              <a:rPr dirty="0"/>
            </a:br>
            <a:r>
              <a:rPr sz="1600" dirty="0" err="1"/>
              <a:t>Simulación</a:t>
            </a:r>
            <a:r>
              <a:rPr sz="1600" dirty="0"/>
              <a:t> de</a:t>
            </a:r>
            <a:br>
              <a:rPr sz="1600" dirty="0"/>
            </a:br>
            <a:r>
              <a:rPr sz="1600" dirty="0" err="1"/>
              <a:t>Escenarios</a:t>
            </a:r>
            <a:endParaRPr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9450756" y="3657600"/>
            <a:ext cx="2103120" cy="1371600"/>
          </a:xfrm>
          <a:prstGeom prst="round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📈</a:t>
            </a:r>
            <a:br>
              <a:rPr dirty="0"/>
            </a:br>
            <a:r>
              <a:rPr sz="1600" dirty="0" err="1"/>
              <a:t>Protección</a:t>
            </a:r>
            <a:r>
              <a:rPr sz="1600" dirty="0"/>
              <a:t> del</a:t>
            </a:r>
            <a:br>
              <a:rPr sz="1600" dirty="0"/>
            </a:br>
            <a:r>
              <a:rPr sz="1600" dirty="0" err="1"/>
              <a:t>Margen</a:t>
            </a:r>
            <a:r>
              <a:rPr sz="1600" dirty="0"/>
              <a:t> Bruto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13228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280"/>
                </a:solidFill>
                <a:latin typeface="Calibri"/>
              </a:defRPr>
            </a:pPr>
            <a:r>
              <a:rPr dirty="0"/>
              <a:t>Sin </a:t>
            </a:r>
            <a:r>
              <a:rPr dirty="0" err="1"/>
              <a:t>CapEx</a:t>
            </a:r>
            <a:r>
              <a:rPr dirty="0"/>
              <a:t> · Sin </a:t>
            </a:r>
            <a:r>
              <a:rPr dirty="0" err="1"/>
              <a:t>proyecto</a:t>
            </a:r>
            <a:r>
              <a:rPr lang="es-ES" dirty="0"/>
              <a:t>s</a:t>
            </a:r>
            <a:r>
              <a:rPr dirty="0"/>
              <a:t> </a:t>
            </a:r>
            <a:r>
              <a:rPr lang="es-ES" dirty="0"/>
              <a:t>interminables</a:t>
            </a:r>
            <a:r>
              <a:rPr dirty="0"/>
              <a:t> · </a:t>
            </a:r>
            <a:r>
              <a:rPr lang="es-ES" dirty="0"/>
              <a:t>Con planes de entrenamiento </a:t>
            </a:r>
            <a:r>
              <a:rPr lang="es-ES" dirty="0" err="1"/>
              <a:t>contínuo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</a:t>
            </a:r>
            <a:r>
              <a:rPr lang="es-ES" dirty="0"/>
              <a:t>7</a:t>
            </a:r>
            <a:endParaRPr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C6106D1-E696-DBEA-70C7-28413EF2FE21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19" name="TextBox 1">
              <a:extLst>
                <a:ext uri="{FF2B5EF4-FFF2-40B4-BE49-F238E27FC236}">
                  <a16:creationId xmlns:a16="http://schemas.microsoft.com/office/drawing/2014/main" id="{F19CE031-2E88-F07A-0A3D-963972B75397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4AFFB6A4-5A23-BCA8-00A6-0737BC6E4749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4F4DC-0B01-300E-9F0E-4591BE0B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2C9AFEEA-27EB-A0B3-CEB6-5DDA949066A2}"/>
              </a:ext>
            </a:extLst>
          </p:cNvPr>
          <p:cNvSpPr/>
          <p:nvPr/>
        </p:nvSpPr>
        <p:spPr>
          <a:xfrm>
            <a:off x="589944" y="1696061"/>
            <a:ext cx="7831393" cy="4483510"/>
          </a:xfrm>
          <a:prstGeom prst="roundRect">
            <a:avLst/>
          </a:pr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52627-D844-1822-3D37-A7ECB90501A3}"/>
              </a:ext>
            </a:extLst>
          </p:cNvPr>
          <p:cNvSpPr txBox="1"/>
          <p:nvPr/>
        </p:nvSpPr>
        <p:spPr>
          <a:xfrm>
            <a:off x="731520" y="91440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RetailMind 360°: nuestra plataforma propietaria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2EC7A9-0549-437C-658C-3CEEE10B1AB9}"/>
              </a:ext>
            </a:extLst>
          </p:cNvPr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</a:t>
            </a:r>
            <a:r>
              <a:rPr lang="es-ES" dirty="0"/>
              <a:t>8</a:t>
            </a:r>
            <a:endParaRPr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DDA19C8-D49D-DACA-F391-BBF54A6572FC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19" name="TextBox 1">
              <a:extLst>
                <a:ext uri="{FF2B5EF4-FFF2-40B4-BE49-F238E27FC236}">
                  <a16:creationId xmlns:a16="http://schemas.microsoft.com/office/drawing/2014/main" id="{89AC3AB2-EF44-5130-B509-1ACAA13C46DF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C85E9B15-9635-5436-9A35-171DBDCBE774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60BB836-6092-83D2-50B9-64DD3B286F2A}"/>
              </a:ext>
            </a:extLst>
          </p:cNvPr>
          <p:cNvSpPr txBox="1">
            <a:spLocks/>
          </p:cNvSpPr>
          <p:nvPr/>
        </p:nvSpPr>
        <p:spPr>
          <a:xfrm>
            <a:off x="870155" y="1709769"/>
            <a:ext cx="10559845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VE" sz="240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30706A2-069C-BD06-6AA8-139D63405685}"/>
              </a:ext>
            </a:extLst>
          </p:cNvPr>
          <p:cNvSpPr/>
          <p:nvPr/>
        </p:nvSpPr>
        <p:spPr>
          <a:xfrm>
            <a:off x="1752116" y="2844140"/>
            <a:ext cx="5760000" cy="2160000"/>
          </a:xfrm>
          <a:prstGeom prst="roundRect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tx1"/>
                </a:solidFill>
              </a:rPr>
              <a:t>RETAIL MIND 360°</a:t>
            </a:r>
            <a:endParaRPr lang="es-VE" sz="3200" b="1" dirty="0">
              <a:solidFill>
                <a:schemeClr val="tx1"/>
              </a:solidFill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C19EA0F-53E3-0749-F4E9-ACB741F38E29}"/>
              </a:ext>
            </a:extLst>
          </p:cNvPr>
          <p:cNvSpPr/>
          <p:nvPr/>
        </p:nvSpPr>
        <p:spPr>
          <a:xfrm>
            <a:off x="1752116" y="1907825"/>
            <a:ext cx="5760000" cy="720000"/>
          </a:xfrm>
          <a:prstGeom prst="roundRect">
            <a:avLst/>
          </a:prstGeom>
          <a:gradFill>
            <a:gsLst>
              <a:gs pos="0">
                <a:srgbClr val="7030A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DODET</a:t>
            </a:r>
            <a:endParaRPr lang="es-VE" sz="2800" b="1" dirty="0">
              <a:solidFill>
                <a:schemeClr val="tx1"/>
              </a:solidFill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2021443-9F76-70CF-BBA6-5FEC73C74B81}"/>
              </a:ext>
            </a:extLst>
          </p:cNvPr>
          <p:cNvSpPr/>
          <p:nvPr/>
        </p:nvSpPr>
        <p:spPr>
          <a:xfrm>
            <a:off x="1752116" y="5196009"/>
            <a:ext cx="5760000" cy="720000"/>
          </a:xfrm>
          <a:prstGeom prst="roundRect">
            <a:avLst/>
          </a:prstGeom>
          <a:gradFill>
            <a:gsLst>
              <a:gs pos="0">
                <a:srgbClr val="92D05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tx1"/>
                </a:solidFill>
              </a:rPr>
              <a:t>GENIX</a:t>
            </a:r>
            <a:endParaRPr lang="es-VE" sz="3200" b="1" dirty="0">
              <a:solidFill>
                <a:schemeClr val="tx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C576C63-2AE1-6D4F-BF8A-DC75171232C1}"/>
              </a:ext>
            </a:extLst>
          </p:cNvPr>
          <p:cNvSpPr txBox="1"/>
          <p:nvPr/>
        </p:nvSpPr>
        <p:spPr>
          <a:xfrm rot="16200000">
            <a:off x="-365629" y="3502118"/>
            <a:ext cx="2993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200" b="1" kern="2000" dirty="0"/>
              <a:t>RETAILDING</a:t>
            </a:r>
            <a:endParaRPr lang="es-VE" sz="4200" b="1" kern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4B7640-92BF-92DC-3CF8-96433148EC91}"/>
              </a:ext>
            </a:extLst>
          </p:cNvPr>
          <p:cNvSpPr txBox="1"/>
          <p:nvPr/>
        </p:nvSpPr>
        <p:spPr>
          <a:xfrm>
            <a:off x="9252710" y="2072884"/>
            <a:ext cx="2423612" cy="373794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SAAS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ANALÍTICA 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     OPERACIONAL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NUBE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MÚLTIPLES 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      DISPOSITIVOS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ENTRENAMIENTO</a:t>
            </a:r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76571DBF-799A-FDD7-AA3B-753DBB1B4CBF}"/>
              </a:ext>
            </a:extLst>
          </p:cNvPr>
          <p:cNvSpPr/>
          <p:nvPr/>
        </p:nvSpPr>
        <p:spPr>
          <a:xfrm>
            <a:off x="8421337" y="1529953"/>
            <a:ext cx="722669" cy="48708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2271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Usted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con </a:t>
            </a:r>
            <a:r>
              <a:rPr dirty="0" err="1"/>
              <a:t>ventaja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027923"/>
              </p:ext>
            </p:extLst>
          </p:nvPr>
        </p:nvGraphicFramePr>
        <p:xfrm>
          <a:off x="1371600" y="2103120"/>
          <a:ext cx="9418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b="1" dirty="0"/>
                        <a:t>PROYECTO TRADICIONAL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ES" b="1" dirty="0"/>
                        <a:t>Cliente</a:t>
                      </a:r>
                      <a:r>
                        <a:rPr b="1" dirty="0"/>
                        <a:t> CON PLANALÍTICA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b="1" dirty="0"/>
                        <a:t>❌  6-12 meses de </a:t>
                      </a:r>
                      <a:r>
                        <a:rPr b="1" dirty="0" err="1"/>
                        <a:t>integración</a:t>
                      </a:r>
                      <a:endParaRPr b="1" dirty="0"/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b="1" dirty="0"/>
                        <a:t>✅  Semanas 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b="1"/>
                        <a:t>❌  CapEx alto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b="1" dirty="0"/>
                        <a:t>✅  </a:t>
                      </a:r>
                      <a:r>
                        <a:rPr b="1" dirty="0" err="1"/>
                        <a:t>OpEx</a:t>
                      </a:r>
                      <a:r>
                        <a:rPr b="1" dirty="0"/>
                        <a:t> </a:t>
                      </a:r>
                      <a:r>
                        <a:rPr b="1" dirty="0" err="1"/>
                        <a:t>mensual</a:t>
                      </a:r>
                      <a:r>
                        <a:rPr b="1" dirty="0"/>
                        <a:t> </a:t>
                      </a:r>
                      <a:r>
                        <a:rPr b="1" dirty="0" err="1"/>
                        <a:t>predecible</a:t>
                      </a:r>
                      <a:endParaRPr b="1" dirty="0"/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b="1"/>
                        <a:t>❌  Equipo interno requerido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b="1" dirty="0"/>
                        <a:t>✅  </a:t>
                      </a:r>
                      <a:r>
                        <a:rPr b="1" dirty="0" err="1"/>
                        <a:t>Servicio</a:t>
                      </a:r>
                      <a:r>
                        <a:rPr b="1" dirty="0"/>
                        <a:t> </a:t>
                      </a:r>
                      <a:r>
                        <a:rPr b="1" dirty="0" err="1"/>
                        <a:t>gestionado</a:t>
                      </a:r>
                      <a:r>
                        <a:rPr b="1" dirty="0"/>
                        <a:t> end-to-end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029200"/>
            <a:ext cx="9418320" cy="1097280"/>
          </a:xfrm>
          <a:prstGeom prst="round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5212080"/>
            <a:ext cx="9052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s-419" dirty="0"/>
              <a:t>Los datos de la empresa son refinados y </a:t>
            </a:r>
            <a:r>
              <a:rPr lang="es-ES" dirty="0"/>
              <a:t>a la información obtenida</a:t>
            </a:r>
            <a:br>
              <a:rPr dirty="0"/>
            </a:br>
            <a:r>
              <a:rPr lang="es-ES" dirty="0"/>
              <a:t>se le</a:t>
            </a:r>
            <a:r>
              <a:rPr dirty="0"/>
              <a:t> </a:t>
            </a:r>
            <a:r>
              <a:rPr dirty="0" err="1"/>
              <a:t>activa</a:t>
            </a:r>
            <a:r>
              <a:rPr dirty="0"/>
              <a:t> la </a:t>
            </a:r>
            <a:r>
              <a:rPr dirty="0" err="1"/>
              <a:t>inteligencia</a:t>
            </a:r>
            <a:r>
              <a:rPr dirty="0"/>
              <a:t> </a:t>
            </a:r>
            <a:r>
              <a:rPr lang="es-ES" dirty="0"/>
              <a:t>artificial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</a:t>
            </a:r>
            <a:r>
              <a:rPr lang="es-ES" dirty="0"/>
              <a:t>9</a:t>
            </a:r>
            <a:endParaRPr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CC0895B-AE0C-2276-4790-F1E4B336F98C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57E51E4C-BBD3-289E-7BDF-F33AAAB51F8D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1C5D5080-789A-7A2E-6B94-B3E2475A2AB7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3460"/>
                </a:solidFill>
                <a:latin typeface="Calibri"/>
              </a:defRPr>
            </a:pP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60 días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32720" cy="762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45920" y="3017520"/>
            <a:ext cx="365760" cy="365760"/>
          </a:xfrm>
          <a:prstGeom prst="ellipse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latin typeface="Calibr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3460"/>
                </a:solidFill>
                <a:latin typeface="Calibri"/>
              </a:defRPr>
            </a:pPr>
            <a:r>
              <a:rPr sz="1600"/>
              <a:t>Sem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/>
              <a:t>Descubrimiento</a:t>
            </a:r>
          </a:p>
        </p:txBody>
      </p:sp>
      <p:sp>
        <p:nvSpPr>
          <p:cNvPr id="10" name="Oval 9"/>
          <p:cNvSpPr/>
          <p:nvPr/>
        </p:nvSpPr>
        <p:spPr>
          <a:xfrm>
            <a:off x="3749040" y="3017520"/>
            <a:ext cx="365760" cy="365760"/>
          </a:xfrm>
          <a:prstGeom prst="ellipse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latin typeface="Calibri"/>
              </a:defRPr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5661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3460"/>
                </a:solidFill>
                <a:latin typeface="Calibri"/>
              </a:defRPr>
            </a:pPr>
            <a:r>
              <a:rPr sz="1600"/>
              <a:t>Sem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9319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/>
              <a:t>Integración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017520"/>
            <a:ext cx="365760" cy="365760"/>
          </a:xfrm>
          <a:prstGeom prst="ellipse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latin typeface="Calibri"/>
              </a:defRPr>
            </a:pPr>
            <a:r>
              <a:t>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5661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3460"/>
                </a:solidFill>
                <a:latin typeface="Calibri"/>
              </a:defRPr>
            </a:pPr>
            <a:r>
              <a:rPr sz="1600"/>
              <a:t>Sem 3-5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9319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/>
              <a:t>Modelado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0" y="3017520"/>
            <a:ext cx="365760" cy="365760"/>
          </a:xfrm>
          <a:prstGeom prst="ellipse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latin typeface="Calibr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661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3460"/>
                </a:solidFill>
                <a:latin typeface="Calibri"/>
              </a:defRPr>
            </a:pPr>
            <a:r>
              <a:rPr sz="1600"/>
              <a:t>Sem 5-7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9319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/>
              <a:t>Validación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0" y="3017520"/>
            <a:ext cx="365760" cy="365760"/>
          </a:xfrm>
          <a:prstGeom prst="ellipse">
            <a:avLst/>
          </a:prstGeom>
          <a:solidFill>
            <a:srgbClr val="FF8C42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latin typeface="Calibri"/>
              </a:defRPr>
            </a:pPr>
            <a: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5661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3460"/>
                </a:solidFill>
                <a:latin typeface="Calibri"/>
              </a:defRPr>
            </a:pPr>
            <a:r>
              <a:rPr sz="1600"/>
              <a:t>Sem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rPr sz="1600" b="1"/>
              <a:t>Resultados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46320"/>
            <a:ext cx="10332720" cy="10972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3460"/>
                </a:solidFill>
                <a:latin typeface="Calibri"/>
              </a:defRPr>
            </a:pPr>
            <a:r>
              <a:t>📌 Experimento controlado · Métricas acordadas</a:t>
            </a:r>
            <a:br/>
            <a:r>
              <a:t>Alcance acotado · Resultados cuantificables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</a:t>
            </a:r>
            <a:r>
              <a:rPr lang="es-ES" dirty="0"/>
              <a:t>10</a:t>
            </a:r>
            <a:endParaRPr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AD5778BC-7503-D0BC-D1EE-D88EF87C67B6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30" name="TextBox 1">
              <a:extLst>
                <a:ext uri="{FF2B5EF4-FFF2-40B4-BE49-F238E27FC236}">
                  <a16:creationId xmlns:a16="http://schemas.microsoft.com/office/drawing/2014/main" id="{55B8D8A9-63CF-FAE5-22F9-B8E28455C6DA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31" name="TextBox 2">
              <a:extLst>
                <a:ext uri="{FF2B5EF4-FFF2-40B4-BE49-F238E27FC236}">
                  <a16:creationId xmlns:a16="http://schemas.microsoft.com/office/drawing/2014/main" id="{B3A21663-D8DF-9BD1-3D05-C4976D2BF0F7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3460"/>
                </a:solidFill>
                <a:latin typeface="Calibri"/>
              </a:defRPr>
            </a:pPr>
            <a:r>
              <a:t>Cómo mediremos el éxito (juntos)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991912"/>
              </p:ext>
            </p:extLst>
          </p:nvPr>
        </p:nvGraphicFramePr>
        <p:xfrm>
          <a:off x="1828800" y="2011680"/>
          <a:ext cx="850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/>
                        <a:t>KPI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META PILOTO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/>
                        <a:t>📦  Inventario inmovilizado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/>
                        <a:t>≥ 15% ⬇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/>
                        <a:t>📈  Margen bruto simulado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/>
                        <a:t>≥ 2 p.p. ⬆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/>
                        <a:t>💰  Capital de trabajo liberado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/>
                        <a:t>Cuantif. USD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/>
                        <a:t>🎯  Adopción usuarios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800" dirty="0"/>
                        <a:t>≥ 80%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</a:t>
            </a:r>
            <a:r>
              <a:rPr lang="es-ES" dirty="0"/>
              <a:t>11</a:t>
            </a:r>
            <a:endParaRPr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B2C2FEB-4D06-6ED8-74A3-B11E7C37EF54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09A2012D-B405-D225-8BA8-2B06D544F808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23379623-C92D-5D8E-6236-CF7B9F53D2B9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A9A97-97B5-FECE-CC52-43130DD7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9D83F0-C2A6-2BA2-A0B3-532912C808AF}"/>
              </a:ext>
            </a:extLst>
          </p:cNvPr>
          <p:cNvSpPr txBox="1"/>
          <p:nvPr/>
        </p:nvSpPr>
        <p:spPr>
          <a:xfrm>
            <a:off x="914400" y="2743200"/>
            <a:ext cx="10332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8C42"/>
                </a:solidFill>
                <a:latin typeface="Calibri"/>
              </a:defRPr>
            </a:pPr>
            <a:r>
              <a:rPr lang="es-ES" dirty="0"/>
              <a:t>DEMOS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9568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914400"/>
            <a:ext cx="10058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D</a:t>
            </a:r>
            <a:r>
              <a:rPr dirty="0" err="1"/>
              <a:t>ecisi</a:t>
            </a:r>
            <a:r>
              <a:rPr lang="es-ES" dirty="0" err="1"/>
              <a:t>ones</a:t>
            </a:r>
            <a:r>
              <a:rPr dirty="0"/>
              <a:t> </a:t>
            </a:r>
            <a:r>
              <a:rPr dirty="0" err="1"/>
              <a:t>financiera</a:t>
            </a:r>
            <a:r>
              <a:rPr lang="es-ES" dirty="0"/>
              <a:t>s</a:t>
            </a:r>
            <a:r>
              <a:rPr dirty="0"/>
              <a:t> </a:t>
            </a:r>
            <a:r>
              <a:rPr lang="es-ES" dirty="0"/>
              <a:t>de impacto positivo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Confidencial</a:t>
            </a:r>
            <a:r>
              <a:rPr dirty="0"/>
              <a:t> — Kalea | RetailMind 360° 2026 · Slide 1</a:t>
            </a:r>
            <a:r>
              <a:rPr lang="es-ES" dirty="0"/>
              <a:t>6</a:t>
            </a:r>
            <a:endParaRPr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2F991D-39E6-2B34-C537-4026500EA5B4}"/>
              </a:ext>
            </a:extLst>
          </p:cNvPr>
          <p:cNvSpPr txBox="1"/>
          <p:nvPr/>
        </p:nvSpPr>
        <p:spPr>
          <a:xfrm>
            <a:off x="3099671" y="2983617"/>
            <a:ext cx="6383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Hablemos de nuestros planes de servicios</a:t>
            </a:r>
            <a:endParaRPr lang="es-VE" sz="2800" b="1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8073995-A524-3E8C-C058-CB903B78B521}"/>
              </a:ext>
            </a:extLst>
          </p:cNvPr>
          <p:cNvGrpSpPr/>
          <p:nvPr/>
        </p:nvGrpSpPr>
        <p:grpSpPr>
          <a:xfrm>
            <a:off x="457200" y="274320"/>
            <a:ext cx="11430000" cy="338554"/>
            <a:chOff x="457200" y="274320"/>
            <a:chExt cx="11430000" cy="338554"/>
          </a:xfrm>
        </p:grpSpPr>
        <p:sp>
          <p:nvSpPr>
            <p:cNvPr id="12" name="TextBox 1">
              <a:extLst>
                <a:ext uri="{FF2B5EF4-FFF2-40B4-BE49-F238E27FC236}">
                  <a16:creationId xmlns:a16="http://schemas.microsoft.com/office/drawing/2014/main" id="{5A8C2AA9-3C66-783E-2B43-96CC34BFA785}"/>
                </a:ext>
              </a:extLst>
            </p:cNvPr>
            <p:cNvSpPr txBox="1"/>
            <p:nvPr/>
          </p:nvSpPr>
          <p:spPr>
            <a:xfrm>
              <a:off x="457200" y="274320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0F3460"/>
                  </a:solidFill>
                  <a:latin typeface="Calibri"/>
                </a:defRPr>
              </a:pPr>
              <a:r>
                <a:rPr sz="1600" dirty="0"/>
                <a:t>RetailMind 360°</a:t>
              </a:r>
            </a:p>
          </p:txBody>
        </p:sp>
        <p:sp>
          <p:nvSpPr>
            <p:cNvPr id="13" name="TextBox 2">
              <a:extLst>
                <a:ext uri="{FF2B5EF4-FFF2-40B4-BE49-F238E27FC236}">
                  <a16:creationId xmlns:a16="http://schemas.microsoft.com/office/drawing/2014/main" id="{259ACE3D-0B39-0636-A6BE-5FF0D02BA0CD}"/>
                </a:ext>
              </a:extLst>
            </p:cNvPr>
            <p:cNvSpPr txBox="1"/>
            <p:nvPr/>
          </p:nvSpPr>
          <p:spPr>
            <a:xfrm>
              <a:off x="9601200" y="274320"/>
              <a:ext cx="228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200" b="1">
                  <a:solidFill>
                    <a:srgbClr val="0F62FE"/>
                  </a:solidFill>
                  <a:latin typeface="Calibri"/>
                </a:defRPr>
              </a:pPr>
              <a:r>
                <a:rPr lang="es-ES" sz="1600" dirty="0" err="1"/>
                <a:t>Planalitica</a:t>
              </a:r>
              <a:endParaRPr sz="1600" dirty="0"/>
            </a:p>
          </p:txBody>
        </p:sp>
      </p:grpSp>
      <p:sp>
        <p:nvSpPr>
          <p:cNvPr id="14" name="Rounded Rectangle 25">
            <a:extLst>
              <a:ext uri="{FF2B5EF4-FFF2-40B4-BE49-F238E27FC236}">
                <a16:creationId xmlns:a16="http://schemas.microsoft.com/office/drawing/2014/main" id="{881AB662-C1D6-8752-A39C-D2C195E6BB37}"/>
              </a:ext>
            </a:extLst>
          </p:cNvPr>
          <p:cNvSpPr/>
          <p:nvPr/>
        </p:nvSpPr>
        <p:spPr>
          <a:xfrm>
            <a:off x="1097280" y="4713584"/>
            <a:ext cx="10332720" cy="10972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F7642E48-6ACA-7BE0-89A7-35E7F25B921E}"/>
              </a:ext>
            </a:extLst>
          </p:cNvPr>
          <p:cNvSpPr txBox="1"/>
          <p:nvPr/>
        </p:nvSpPr>
        <p:spPr>
          <a:xfrm>
            <a:off x="1307705" y="5077558"/>
            <a:ext cx="996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3460"/>
                </a:solidFill>
                <a:latin typeface="Calibri"/>
              </a:defRPr>
            </a:pPr>
            <a:r>
              <a:rPr lang="es-ES" dirty="0"/>
              <a:t>Sin sorpresas – Sin riesgo tecnológico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7132" y="870168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rPr dirty="0"/>
              <a:t>¿</a:t>
            </a:r>
            <a:r>
              <a:rPr lang="es-ES" dirty="0" err="1"/>
              <a:t>Com</a:t>
            </a:r>
            <a:r>
              <a:rPr dirty="0" err="1"/>
              <a:t>ezamos</a:t>
            </a:r>
            <a:r>
              <a:rPr lang="es-ES" dirty="0"/>
              <a:t>?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47132" y="1784568"/>
            <a:ext cx="10332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8C42"/>
                </a:solidFill>
                <a:latin typeface="Calibri"/>
              </a:defRPr>
            </a:pPr>
            <a:r>
              <a:rPr dirty="0" err="1"/>
              <a:t>en</a:t>
            </a:r>
            <a:r>
              <a:rPr dirty="0"/>
              <a:t> 2 </a:t>
            </a:r>
            <a:r>
              <a:rPr dirty="0" err="1"/>
              <a:t>semanas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33132" y="2949696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1. ✅  </a:t>
            </a:r>
            <a:r>
              <a:rPr dirty="0" err="1"/>
              <a:t>Firma</a:t>
            </a:r>
            <a:r>
              <a:rPr dirty="0"/>
              <a:t> del NDA (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semana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3132" y="3406896"/>
            <a:ext cx="5760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2. ✅  Taller de </a:t>
            </a:r>
            <a:r>
              <a:rPr lang="es-ES" dirty="0"/>
              <a:t>formación</a:t>
            </a:r>
            <a:r>
              <a:rPr dirty="0"/>
              <a:t> (</a:t>
            </a:r>
            <a:r>
              <a:rPr dirty="0" err="1"/>
              <a:t>semana</a:t>
            </a:r>
            <a:r>
              <a:rPr dirty="0"/>
              <a:t>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132" y="3864096"/>
            <a:ext cx="5760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3. ✅  Kick-off del </a:t>
            </a:r>
            <a:r>
              <a:rPr lang="es-ES" dirty="0"/>
              <a:t>proyecto</a:t>
            </a:r>
            <a:r>
              <a:rPr dirty="0"/>
              <a:t> (</a:t>
            </a:r>
            <a:r>
              <a:rPr dirty="0" err="1"/>
              <a:t>semana</a:t>
            </a:r>
            <a:r>
              <a:rPr dirty="0"/>
              <a:t>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132" y="4526296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¡Gracias!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132" y="5828571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rPr b="1" dirty="0" err="1">
                <a:solidFill>
                  <a:schemeClr val="bg1"/>
                </a:solidFill>
              </a:rPr>
              <a:t>RetailMind</a:t>
            </a:r>
            <a:r>
              <a:rPr b="1" dirty="0">
                <a:solidFill>
                  <a:schemeClr val="bg1"/>
                </a:solidFill>
              </a:rPr>
              <a:t> 360° · </a:t>
            </a:r>
            <a:r>
              <a:rPr lang="es-ES" b="1" dirty="0" err="1">
                <a:solidFill>
                  <a:schemeClr val="bg1"/>
                </a:solidFill>
              </a:rPr>
              <a:t>Planalitica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6526</TotalTime>
  <Words>974</Words>
  <Application>Microsoft Office PowerPoint</Application>
  <PresentationFormat>Panorámica</PresentationFormat>
  <Paragraphs>179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Carolina Roa</dc:creator>
  <cp:keywords/>
  <dc:description>generated using python-pptx</dc:description>
  <cp:lastModifiedBy>Carolina Roa</cp:lastModifiedBy>
  <cp:revision>16</cp:revision>
  <dcterms:created xsi:type="dcterms:W3CDTF">2013-01-27T09:14:16Z</dcterms:created>
  <dcterms:modified xsi:type="dcterms:W3CDTF">2026-09-15T21:24:13Z</dcterms:modified>
  <cp:category/>
</cp:coreProperties>
</file>